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EEEEEE"/>
                </a:solidFill>
                <a:latin typeface="Calibri"/>
              </a:defRPr>
            </a:pPr>
            <a:r>
              <a:t>AI Agent 开发实战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00D2FF"/>
                </a:solidFill>
                <a:latin typeface="Calibri"/>
              </a:defRPr>
            </a:pPr>
            <a:r>
              <a:t>从原理到实践 —— 构建智能体应用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AAAAA"/>
                </a:solidFill>
                <a:latin typeface="Calibri"/>
              </a:defRPr>
            </a:pPr>
            <a:r>
              <a:t>2025 · 内部技术分享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EEEEE"/>
                </a:solidFill>
                <a:latin typeface="Calibri"/>
              </a:defRPr>
            </a:pPr>
            <a:r>
              <a:t>什么是 AI Agent？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AAAAAA"/>
                </a:solidFill>
                <a:latin typeface="Calibri"/>
              </a:defRPr>
            </a:pPr>
            <a:r>
              <a:t>AI Agent 是一种能够自主感知环境、制定计划、执行动作并持续学习以达成目标的智能程序。</a:t>
            </a:r>
            <a:br/>
            <a:r>
              <a:t>它不同于传统的 LLM 聊天机器人——Agent 能主动采取行动、使用工具、记忆上下文。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200400"/>
            <a:ext cx="2560320" cy="2926080"/>
          </a:xfrm>
          <a:prstGeom prst="rect">
            <a:avLst/>
          </a:prstGeom>
          <a:solidFill>
            <a:srgbClr val="282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33832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2FF"/>
                </a:solidFill>
                <a:latin typeface="Calibri"/>
              </a:defRPr>
            </a:pPr>
            <a:r>
              <a:t>🧠 感知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840480"/>
            <a:ext cx="20116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AAAAA"/>
                </a:solidFill>
                <a:latin typeface="Calibri"/>
              </a:defRPr>
            </a:pPr>
            <a:r>
              <a:t>接收多模态输入</a:t>
            </a:r>
            <a:br/>
            <a:r>
              <a:t>（文本、图像、音频）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3566160" y="3200400"/>
            <a:ext cx="2560320" cy="2926080"/>
          </a:xfrm>
          <a:prstGeom prst="rect">
            <a:avLst/>
          </a:prstGeom>
          <a:solidFill>
            <a:srgbClr val="282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0" y="33832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2FF"/>
                </a:solidFill>
                <a:latin typeface="Calibri"/>
              </a:defRPr>
            </a:pPr>
            <a:r>
              <a:t>🎯 规划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3840480"/>
            <a:ext cx="20116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AAAAA"/>
                </a:solidFill>
                <a:latin typeface="Calibri"/>
              </a:defRPr>
            </a:pPr>
            <a:r>
              <a:t>拆解复杂任务</a:t>
            </a:r>
            <a:br/>
            <a:r>
              <a:t>制定执行步骤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3200400"/>
            <a:ext cx="2560320" cy="2926080"/>
          </a:xfrm>
          <a:prstGeom prst="rect">
            <a:avLst/>
          </a:prstGeom>
          <a:solidFill>
            <a:srgbClr val="282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33832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2FF"/>
                </a:solidFill>
                <a:latin typeface="Calibri"/>
              </a:defRPr>
            </a:pPr>
            <a:r>
              <a:t>🛠️ 行动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3840480"/>
            <a:ext cx="20116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AAAAA"/>
                </a:solidFill>
                <a:latin typeface="Calibri"/>
              </a:defRPr>
            </a:pPr>
            <a:r>
              <a:t>调用工具 / API</a:t>
            </a:r>
            <a:br/>
            <a:r>
              <a:t>与环境交互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235440" y="3200400"/>
            <a:ext cx="2560320" cy="2926080"/>
          </a:xfrm>
          <a:prstGeom prst="rect">
            <a:avLst/>
          </a:prstGeom>
          <a:solidFill>
            <a:srgbClr val="282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09760" y="33832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2FF"/>
                </a:solidFill>
                <a:latin typeface="Calibri"/>
              </a:defRPr>
            </a:pPr>
            <a:r>
              <a:t>💾 记忆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09760" y="3840480"/>
            <a:ext cx="20116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AAAAA"/>
                </a:solidFill>
                <a:latin typeface="Calibri"/>
              </a:defRPr>
            </a:pPr>
            <a:r>
              <a:t>短期 &amp; 长期记忆</a:t>
            </a:r>
            <a:br/>
            <a:r>
              <a:t>持续优化策略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EEEEE"/>
                </a:solidFill>
                <a:latin typeface="Calibri"/>
              </a:defRPr>
            </a:pPr>
            <a:r>
              <a:t>Agent 核心架构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1188720"/>
            <a:ext cx="3200400" cy="2286000"/>
          </a:xfrm>
          <a:prstGeom prst="rect">
            <a:avLst/>
          </a:prstGeom>
          <a:solidFill>
            <a:srgbClr val="282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0" y="137160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2FF"/>
                </a:solidFill>
                <a:latin typeface="Calibri"/>
              </a:defRPr>
            </a:pPr>
            <a:r>
              <a:t>🧠 LLM 大脑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0" y="1828800"/>
            <a:ext cx="2651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AAAAA"/>
                </a:solidFill>
                <a:latin typeface="Calibri"/>
              </a:defRPr>
            </a:pPr>
            <a:r>
              <a:t>推理 · 决策 · 生成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2560320"/>
            <a:ext cx="3200400" cy="2286000"/>
          </a:xfrm>
          <a:prstGeom prst="rect">
            <a:avLst/>
          </a:prstGeom>
          <a:solidFill>
            <a:srgbClr val="282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74320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2FF"/>
                </a:solidFill>
                <a:latin typeface="Calibri"/>
              </a:defRPr>
            </a:pPr>
            <a:r>
              <a:t>🎯 规划层（Planning）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200400"/>
            <a:ext cx="2651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AAAAA"/>
                </a:solidFill>
                <a:latin typeface="Calibri"/>
              </a:defRPr>
            </a:pPr>
            <a:r>
              <a:t>任务分解（Chain-of-Thought）</a:t>
            </a:r>
            <a:br/>
            <a:r>
              <a:t>反思与修正（ReAct / Reflexion）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560320"/>
            <a:ext cx="3200400" cy="2286000"/>
          </a:xfrm>
          <a:prstGeom prst="rect">
            <a:avLst/>
          </a:prstGeom>
          <a:solidFill>
            <a:srgbClr val="282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0" y="274320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2FF"/>
                </a:solidFill>
                <a:latin typeface="Calibri"/>
              </a:defRPr>
            </a:pPr>
            <a:r>
              <a:t>🛠️ 工具层（Tool Use）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0" y="3200400"/>
            <a:ext cx="2651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AAAAA"/>
                </a:solidFill>
                <a:latin typeface="Calibri"/>
              </a:defRPr>
            </a:pPr>
            <a:r>
              <a:t>搜索 · 代码执行 · 文件操作</a:t>
            </a:r>
            <a:br/>
            <a:r>
              <a:t>数据库查询 · 调用外部 API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0" y="2560320"/>
            <a:ext cx="3200400" cy="2286000"/>
          </a:xfrm>
          <a:prstGeom prst="rect">
            <a:avLst/>
          </a:prstGeom>
          <a:solidFill>
            <a:srgbClr val="282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0" y="274320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2FF"/>
                </a:solidFill>
                <a:latin typeface="Calibri"/>
              </a:defRPr>
            </a:pPr>
            <a:r>
              <a:t>💾 记忆层（Memory）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0" y="3200400"/>
            <a:ext cx="2651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AAAAA"/>
                </a:solidFill>
                <a:latin typeface="Calibri"/>
              </a:defRPr>
            </a:pPr>
            <a:r>
              <a:t>短期记忆（上下文窗口）</a:t>
            </a:r>
            <a:br/>
            <a:r>
              <a:t>长期记忆（向量数据库 RAG）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EEEEE"/>
                </a:solidFill>
                <a:latin typeface="Calibri"/>
              </a:defRPr>
            </a:pPr>
            <a:r>
              <a:t>主流 Agent 框架对比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515600" cy="822960"/>
          </a:xfrm>
          <a:prstGeom prst="rect">
            <a:avLst/>
          </a:prstGeom>
          <a:solidFill>
            <a:srgbClr val="28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444752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Calibri"/>
              </a:defRPr>
            </a:pPr>
            <a:r>
              <a:t>LangChain / LangGraph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1840" y="1444752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D700"/>
                </a:solidFill>
                <a:latin typeface="Calibri"/>
              </a:defRPr>
            </a:pPr>
            <a:r>
              <a:t>⭐⭐⭐⭐⭐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1444752"/>
            <a:ext cx="5943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AA"/>
                </a:solidFill>
                <a:latin typeface="Calibri"/>
              </a:defRPr>
            </a:pPr>
            <a:r>
              <a:t>最流行，生态完善</a:t>
            </a:r>
            <a:br/>
            <a:r>
              <a:t>支持 ReAct、多 Agent</a:t>
            </a:r>
            <a:br/>
            <a:r>
              <a:t>学习曲线较陡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377440"/>
            <a:ext cx="10515600" cy="822960"/>
          </a:xfrm>
          <a:prstGeom prst="rect">
            <a:avLst/>
          </a:prstGeom>
          <a:solidFill>
            <a:srgbClr val="28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450592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Calibri"/>
              </a:defRPr>
            </a:pPr>
            <a:r>
              <a:t>AutoGen (Microsoft)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2450592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D700"/>
                </a:solidFill>
                <a:latin typeface="Calibri"/>
              </a:defRPr>
            </a:pPr>
            <a:r>
              <a:t>⭐⭐⭐⭐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2450592"/>
            <a:ext cx="5943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AA"/>
                </a:solidFill>
                <a:latin typeface="Calibri"/>
              </a:defRPr>
            </a:pPr>
            <a:r>
              <a:t>多 Agent 对话</a:t>
            </a:r>
            <a:br/>
            <a:r>
              <a:t>灵活的消息驱动</a:t>
            </a:r>
            <a:br/>
            <a:r>
              <a:t>适合研究场景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383280"/>
            <a:ext cx="10515600" cy="822960"/>
          </a:xfrm>
          <a:prstGeom prst="rect">
            <a:avLst/>
          </a:prstGeom>
          <a:solidFill>
            <a:srgbClr val="28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456432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Calibri"/>
              </a:defRPr>
            </a:pPr>
            <a:r>
              <a:t>CrewAI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3456432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D700"/>
                </a:solidFill>
                <a:latin typeface="Calibri"/>
              </a:defRPr>
            </a:pPr>
            <a:r>
              <a:t>⭐⭐⭐⭐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3456432"/>
            <a:ext cx="5943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AA"/>
                </a:solidFill>
                <a:latin typeface="Calibri"/>
              </a:defRPr>
            </a:pPr>
            <a:r>
              <a:t>角色化 Agent</a:t>
            </a:r>
            <a:br/>
            <a:r>
              <a:t>开箱即用，接口简洁</a:t>
            </a:r>
            <a:br/>
            <a:r>
              <a:t>适合 MVP 快速验证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389120"/>
            <a:ext cx="10515600" cy="822960"/>
          </a:xfrm>
          <a:prstGeom prst="rect">
            <a:avLst/>
          </a:prstGeom>
          <a:solidFill>
            <a:srgbClr val="28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462272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Calibri"/>
              </a:defRPr>
            </a:pPr>
            <a:r>
              <a:t>Semantic Kernel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4462272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D700"/>
                </a:solidFill>
                <a:latin typeface="Calibri"/>
              </a:defRPr>
            </a:pPr>
            <a:r>
              <a:t>⭐⭐⭐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4462272"/>
            <a:ext cx="5943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AA"/>
                </a:solidFill>
                <a:latin typeface="Calibri"/>
              </a:defRPr>
            </a:pPr>
            <a:r>
              <a:t>微软官方，.NET/Java</a:t>
            </a:r>
            <a:br/>
            <a:r>
              <a:t>企业级集成</a:t>
            </a:r>
            <a:br/>
            <a:r>
              <a:t>社区相对较小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5394960"/>
            <a:ext cx="10515600" cy="822960"/>
          </a:xfrm>
          <a:prstGeom prst="rect">
            <a:avLst/>
          </a:prstGeom>
          <a:solidFill>
            <a:srgbClr val="28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5468112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Calibri"/>
              </a:defRPr>
            </a:pPr>
            <a:r>
              <a:t>Dify / FastGPT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91840" y="5468112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D700"/>
                </a:solidFill>
                <a:latin typeface="Calibri"/>
              </a:defRPr>
            </a:pPr>
            <a:r>
              <a:t>⭐⭐⭐⭐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5468112"/>
            <a:ext cx="5943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AA"/>
                </a:solidFill>
                <a:latin typeface="Calibri"/>
              </a:defRPr>
            </a:pPr>
            <a:r>
              <a:t>低代码平台</a:t>
            </a:r>
            <a:br/>
            <a:r>
              <a:t>可视化编排 workflow</a:t>
            </a:r>
            <a:br/>
            <a:r>
              <a:t>适合非开发者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EEEEE"/>
                </a:solidFill>
                <a:latin typeface="Calibri"/>
              </a:defRPr>
            </a:pPr>
            <a:r>
              <a:t>开发实例：ReAct 模式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515600" cy="4114800"/>
          </a:xfrm>
          <a:prstGeom prst="rect">
            <a:avLst/>
          </a:prstGeom>
          <a:solidFill>
            <a:srgbClr val="1A1B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463040"/>
            <a:ext cx="9875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CCDD"/>
                </a:solidFill>
                <a:latin typeface="Consolas"/>
              </a:defRPr>
            </a:pPr>
            <a:r>
              <a:t>from langchain_openai import ChatOpenAI</a:t>
            </a:r>
            <a:br/>
            <a:r>
              <a:t>from langchain.agents import create_react_agent, AgentExecutor</a:t>
            </a:r>
            <a:br/>
            <a:r>
              <a:t>from langchain.tools import tool</a:t>
            </a:r>
            <a:br/>
            <a:br/>
            <a:r>
              <a:t>@tool</a:t>
            </a:r>
            <a:br/>
            <a:r>
              <a:t>def get_weather(city: str) -&gt; str:</a:t>
            </a:r>
            <a:br/>
            <a:r>
              <a:t>    """获取城市天气"""</a:t>
            </a:r>
            <a:br/>
            <a:r>
              <a:t>    # 调用天气 API ...</a:t>
            </a:r>
            <a:br/>
            <a:r>
              <a:t>    return f"{city}: 25°C, 晴"</a:t>
            </a:r>
            <a:br/>
            <a:br/>
            <a:r>
              <a:t>tools = [get_weather]</a:t>
            </a:r>
            <a:br/>
            <a:r>
              <a:t>llm = ChatOpenAI(model='gpt-4', temperature=0)</a:t>
            </a:r>
            <a:br/>
            <a:r>
              <a:t>agent = create_react_agent(llm, tools, prompt)</a:t>
            </a:r>
            <a:br/>
            <a:r>
              <a:t>executor = AgentExecutor(agent=agent, tools=tools)</a:t>
            </a:r>
            <a:br/>
            <a:r>
              <a:t>result = executor.invoke({'input': '北京明天天气如何？'})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6692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00D2FF"/>
                </a:solidFill>
                <a:latin typeface="Calibri"/>
              </a:defRPr>
            </a:pPr>
            <a:r>
              <a:t>💡 ReAct 核心：Thought → Action → Observation → 循环直到给出 Final Answer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EEEEE"/>
                </a:solidFill>
                <a:latin typeface="Calibri"/>
              </a:defRPr>
            </a:pPr>
            <a:r>
              <a:t>工具调用（Tool Use）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3383280" cy="2194560"/>
          </a:xfrm>
          <a:prstGeom prst="rect">
            <a:avLst/>
          </a:prstGeom>
          <a:solidFill>
            <a:srgbClr val="282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5544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2FF"/>
                </a:solidFill>
                <a:latin typeface="Calibri"/>
              </a:defRPr>
            </a:pPr>
            <a:r>
              <a:t>🔍 搜索引擎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011680"/>
            <a:ext cx="2834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AAAAA"/>
                </a:solidFill>
                <a:latin typeface="Calibri"/>
              </a:defRPr>
            </a:pPr>
            <a:r>
              <a:t>实时信息检索</a:t>
            </a:r>
            <a:br/>
            <a:r>
              <a:t>获取最新数据</a:t>
            </a:r>
          </a:p>
        </p:txBody>
      </p:sp>
      <p:sp>
        <p:nvSpPr>
          <p:cNvPr id="7" name="Rectangle 6"/>
          <p:cNvSpPr/>
          <p:nvPr/>
        </p:nvSpPr>
        <p:spPr>
          <a:xfrm>
            <a:off x="4480559" y="1371600"/>
            <a:ext cx="3383280" cy="2194560"/>
          </a:xfrm>
          <a:prstGeom prst="rect">
            <a:avLst/>
          </a:prstGeom>
          <a:solidFill>
            <a:srgbClr val="282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79" y="15544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2FF"/>
                </a:solidFill>
                <a:latin typeface="Calibri"/>
              </a:defRPr>
            </a:pPr>
            <a:r>
              <a:t>📄 文件操作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79" y="2011680"/>
            <a:ext cx="2834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AAAAA"/>
                </a:solidFill>
                <a:latin typeface="Calibri"/>
              </a:defRPr>
            </a:pPr>
            <a:r>
              <a:t>读写文件、解析 PDF</a:t>
            </a:r>
            <a:br/>
            <a:r>
              <a:t>文档处理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0" y="1371600"/>
            <a:ext cx="3383280" cy="2194560"/>
          </a:xfrm>
          <a:prstGeom prst="rect">
            <a:avLst/>
          </a:prstGeom>
          <a:solidFill>
            <a:srgbClr val="282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0" y="15544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2FF"/>
                </a:solidFill>
                <a:latin typeface="Calibri"/>
              </a:defRPr>
            </a:pPr>
            <a:r>
              <a:t>💻 代码执行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011680"/>
            <a:ext cx="2834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AAAAA"/>
                </a:solidFill>
                <a:latin typeface="Calibri"/>
              </a:defRPr>
            </a:pPr>
            <a:r>
              <a:t>运行 Python/SQL</a:t>
            </a:r>
            <a:br/>
            <a:r>
              <a:t>数学计算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931920"/>
            <a:ext cx="3383280" cy="2194560"/>
          </a:xfrm>
          <a:prstGeom prst="rect">
            <a:avLst/>
          </a:prstGeom>
          <a:solidFill>
            <a:srgbClr val="282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1148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2FF"/>
                </a:solidFill>
                <a:latin typeface="Calibri"/>
              </a:defRPr>
            </a:pPr>
            <a:r>
              <a:t>🌐 API 调用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572000"/>
            <a:ext cx="2834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AAAAA"/>
                </a:solidFill>
                <a:latin typeface="Calibri"/>
              </a:defRPr>
            </a:pPr>
            <a:r>
              <a:t>连接第三方服务</a:t>
            </a:r>
            <a:br/>
            <a:r>
              <a:t>数据库查询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59" y="3931920"/>
            <a:ext cx="3383280" cy="2194560"/>
          </a:xfrm>
          <a:prstGeom prst="rect">
            <a:avLst/>
          </a:prstGeom>
          <a:solidFill>
            <a:srgbClr val="282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79" y="41148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2FF"/>
                </a:solidFill>
                <a:latin typeface="Calibri"/>
              </a:defRPr>
            </a:pPr>
            <a:r>
              <a:t>📊 数据分析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79" y="4572000"/>
            <a:ext cx="2834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AAAAA"/>
                </a:solidFill>
                <a:latin typeface="Calibri"/>
              </a:defRPr>
            </a:pPr>
            <a:r>
              <a:t>图表生成</a:t>
            </a:r>
            <a:br/>
            <a:r>
              <a:t>统计分析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3931920"/>
            <a:ext cx="3383280" cy="2194560"/>
          </a:xfrm>
          <a:prstGeom prst="rect">
            <a:avLst/>
          </a:prstGeom>
          <a:solidFill>
            <a:srgbClr val="282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3920" y="41148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2FF"/>
                </a:solidFill>
                <a:latin typeface="Calibri"/>
              </a:defRPr>
            </a:pPr>
            <a:r>
              <a:t>📧 通信工具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4572000"/>
            <a:ext cx="2834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AAAAA"/>
                </a:solidFill>
                <a:latin typeface="Calibri"/>
              </a:defRPr>
            </a:pPr>
            <a:r>
              <a:t>发送邮件、消息</a:t>
            </a:r>
            <a:br/>
            <a:r>
              <a:t>工作流自动化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EEEEE"/>
                </a:solidFill>
                <a:latin typeface="Calibri"/>
              </a:defRPr>
            </a:pPr>
            <a:r>
              <a:t>多 Agent 协作模式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2560320" cy="3200400"/>
          </a:xfrm>
          <a:prstGeom prst="rect">
            <a:avLst/>
          </a:prstGeom>
          <a:solidFill>
            <a:srgbClr val="282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5544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2FF"/>
                </a:solidFill>
                <a:latin typeface="Calibri"/>
              </a:defRPr>
            </a:pPr>
            <a:r>
              <a:t>👑 中心化协调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011680"/>
            <a:ext cx="20116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AAAAA"/>
                </a:solidFill>
                <a:latin typeface="Calibri"/>
              </a:defRPr>
            </a:pPr>
            <a:r>
              <a:t>一个 Orchestrator Agent</a:t>
            </a:r>
            <a:br/>
            <a:r>
              <a:t>分配任务给 Worker</a:t>
            </a:r>
            <a:br/>
            <a:r>
              <a:t>汇总结果</a:t>
            </a:r>
          </a:p>
        </p:txBody>
      </p:sp>
      <p:sp>
        <p:nvSpPr>
          <p:cNvPr id="7" name="Rectangle 6"/>
          <p:cNvSpPr/>
          <p:nvPr/>
        </p:nvSpPr>
        <p:spPr>
          <a:xfrm>
            <a:off x="3566160" y="1371600"/>
            <a:ext cx="2560320" cy="3200400"/>
          </a:xfrm>
          <a:prstGeom prst="rect">
            <a:avLst/>
          </a:prstGeom>
          <a:solidFill>
            <a:srgbClr val="282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0" y="15544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2FF"/>
                </a:solidFill>
                <a:latin typeface="Calibri"/>
              </a:defRPr>
            </a:pPr>
            <a:r>
              <a:t>🤝 平等对话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011680"/>
            <a:ext cx="20116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AAAAA"/>
                </a:solidFill>
                <a:latin typeface="Calibri"/>
              </a:defRPr>
            </a:pPr>
            <a:r>
              <a:t>Agent 之间自由交流</a:t>
            </a:r>
            <a:br/>
            <a:r>
              <a:t>辩论、投票、共识</a:t>
            </a:r>
            <a:br/>
            <a:r>
              <a:t>（如 AutoGen）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371600"/>
            <a:ext cx="2560320" cy="3200400"/>
          </a:xfrm>
          <a:prstGeom prst="rect">
            <a:avLst/>
          </a:prstGeom>
          <a:solidFill>
            <a:srgbClr val="282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15544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2FF"/>
                </a:solidFill>
                <a:latin typeface="Calibri"/>
              </a:defRPr>
            </a:pPr>
            <a:r>
              <a:t>🏭 流水线模式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2011680"/>
            <a:ext cx="20116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AAAAA"/>
                </a:solidFill>
                <a:latin typeface="Calibri"/>
              </a:defRPr>
            </a:pPr>
            <a:r>
              <a:t>链式处理</a:t>
            </a:r>
            <a:br/>
            <a:r>
              <a:t>每个 Agent 负责一个环节</a:t>
            </a:r>
            <a:br/>
            <a:r>
              <a:t>类似 Pipeline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35440" y="1371600"/>
            <a:ext cx="2560320" cy="3200400"/>
          </a:xfrm>
          <a:prstGeom prst="rect">
            <a:avLst/>
          </a:prstGeom>
          <a:solidFill>
            <a:srgbClr val="282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0" y="15544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2FF"/>
                </a:solidFill>
                <a:latin typeface="Calibri"/>
              </a:defRPr>
            </a:pPr>
            <a:r>
              <a:t>🎭 角色扮演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0" y="2011680"/>
            <a:ext cx="20116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AAAAA"/>
                </a:solidFill>
                <a:latin typeface="Calibri"/>
              </a:defRPr>
            </a:pPr>
            <a:r>
              <a:t>每个 Agent 扮演一个角色</a:t>
            </a:r>
            <a:br/>
            <a:r>
              <a:t>（PM、Dev、QA）</a:t>
            </a:r>
            <a:br/>
            <a:r>
              <a:t>模拟团队协作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0292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00D2FF"/>
                </a:solidFill>
                <a:latin typeface="Calibri"/>
              </a:defRPr>
            </a:pPr>
            <a:r>
              <a:t>💡 框架支持：CrewAI（角色化）· AutoGen（对话）· LangGraph（图编排）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EEEEE"/>
                </a:solidFill>
                <a:latin typeface="Calibri"/>
              </a:defRPr>
            </a:pPr>
            <a:r>
              <a:t>总结与展望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AAAAAA"/>
                </a:solidFill>
                <a:latin typeface="Calibri"/>
              </a:defRPr>
            </a:pPr>
            <a:r>
              <a:t>✅ Agent 是 LLM 应用的下一个前沿，从对话走向自主行动</a:t>
            </a:r>
            <a:br/>
            <a:r>
              <a:t>✅ 核心三要素：规划 + 工具 + 记忆</a:t>
            </a:r>
            <a:br/>
            <a:r>
              <a:t>✅ LangChain / CrewAI / AutoGen 各有适用场景</a:t>
            </a:r>
            <a:br/>
            <a:r>
              <a:t>✅ ReAct 模式是最实用的入门方案</a:t>
            </a:r>
            <a:br/>
            <a:r>
              <a:t>✅ 多 Agent 协作适合复杂任务</a:t>
            </a:r>
            <a:br/>
            <a:br/>
            <a:r>
              <a:t>🚀 未来趋势：</a:t>
            </a:r>
            <a:br/>
            <a:r>
              <a:t>  • Agent-as-a-Service（Agent 即服务）</a:t>
            </a:r>
            <a:br/>
            <a:r>
              <a:t>  • 多模态 Agent（视觉 + 语音 + 操作）</a:t>
            </a:r>
            <a:br/>
            <a:r>
              <a:t>  • 自主 Agent 长期运行 &amp; 持续学习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